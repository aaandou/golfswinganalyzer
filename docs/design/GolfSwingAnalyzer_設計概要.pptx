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GolfSwingAnalyzer 設計概要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F5E9"/>
                </a:solidFill>
              </a:defRPr>
            </a:pPr>
            <a:r>
              <a:t>スイング撮影 ／ インパクト自動検出・トリミング ／ 履歴管理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E6C9"/>
                </a:solidFill>
              </a:defRPr>
            </a:pPr>
            <a:r>
              <a:t>docs/design/DESIGN.md をもとに作成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アプリ概要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スマホのカメラでゴルフスイングを撮影・確認するアプリ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79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12121"/>
                </a:solidFill>
              </a:defRPr>
            </a:pPr>
            <a:r>
              <a:t>•  📷 スイング撮影</a:t>
            </a:r>
          </a:p>
          <a:p>
            <a:pPr>
              <a:spcAft>
                <a:spcPts val="400"/>
              </a:spcAft>
              <a:defRPr sz="1700" b="0">
                <a:solidFill>
                  <a:srgbClr val="424242"/>
                </a:solidFill>
              </a:defRPr>
            </a:pPr>
            <a:r>
              <a:t>    ‒  背面カメラで録画。中央のターゲットマークにボールを置いて構える</a:t>
            </a:r>
          </a:p>
          <a:p>
            <a:pPr>
              <a:spcAft>
                <a:spcPts val="1000"/>
              </a:spcAft>
              <a:defRPr sz="2000" b="1">
                <a:solidFill>
                  <a:srgbClr val="212121"/>
                </a:solidFill>
              </a:defRPr>
            </a:pPr>
            <a:r>
              <a:t>•  ✂️ インパクト自動検出 ＋ 自動トリミング</a:t>
            </a:r>
          </a:p>
          <a:p>
            <a:pPr>
              <a:spcAft>
                <a:spcPts val="400"/>
              </a:spcAft>
              <a:defRPr sz="1700" b="0">
                <a:solidFill>
                  <a:srgbClr val="424242"/>
                </a:solidFill>
              </a:defRPr>
            </a:pPr>
            <a:r>
              <a:t>    ‒  ボールが消える瞬間（インパクト）を画像解析で推定</a:t>
            </a:r>
          </a:p>
          <a:p>
            <a:pPr>
              <a:spcAft>
                <a:spcPts val="400"/>
              </a:spcAft>
              <a:defRPr sz="1700" b="0">
                <a:solidFill>
                  <a:srgbClr val="424242"/>
                </a:solidFill>
              </a:defRPr>
            </a:pPr>
            <a:r>
              <a:t>    ‒  前後0.2秒だけを残してトリミング保存（10秒の動画から必要な瞬間だけを抽出）</a:t>
            </a:r>
          </a:p>
          <a:p>
            <a:pPr>
              <a:spcAft>
                <a:spcPts val="400"/>
              </a:spcAft>
              <a:defRPr sz="1700" b="0">
                <a:solidFill>
                  <a:srgbClr val="424242"/>
                </a:solidFill>
              </a:defRPr>
            </a:pPr>
            <a:r>
              <a:t>    ‒  検出できなかった場合は元動画をそのまま保存し、履歴に警告表示</a:t>
            </a:r>
          </a:p>
          <a:p>
            <a:pPr>
              <a:spcAft>
                <a:spcPts val="1000"/>
              </a:spcAft>
              <a:defRPr sz="2000" b="1">
                <a:solidFill>
                  <a:srgbClr val="212121"/>
                </a:solidFill>
              </a:defRPr>
            </a:pPr>
            <a:r>
              <a:t>•  📜 履歴の再生・削除</a:t>
            </a:r>
          </a:p>
          <a:p>
            <a:pPr>
              <a:spcAft>
                <a:spcPts val="400"/>
              </a:spcAft>
              <a:defRPr sz="1700" b="0">
                <a:solidFill>
                  <a:srgbClr val="424242"/>
                </a:solidFill>
              </a:defRPr>
            </a:pPr>
            <a:r>
              <a:t>    ‒  コマ送り・スローモーション（1.0x〜0.1x）で確認、不要なものは削除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アーキテクチャ全体像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DDD（ドメイン駆動設計）。依存は一方向のみ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79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554480"/>
            <a:ext cx="8961120" cy="9601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1B5E20"/>
                </a:solidFill>
              </a:defRPr>
            </a:pPr>
            <a:r>
              <a:t>Presentation</a:t>
            </a:r>
          </a:p>
          <a:p>
            <a:pPr algn="ctr">
              <a:defRPr sz="1200">
                <a:solidFill>
                  <a:srgbClr val="424242"/>
                </a:solidFill>
              </a:defRPr>
            </a:pPr>
            <a:r>
              <a:t>画面表示・操作・状態監視のみ</a:t>
            </a:r>
            <a:br/>
            <a:r>
              <a:t>（screens / widgets / providers）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26480" y="2514600"/>
            <a:ext cx="0" cy="32004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645920" y="2834639"/>
            <a:ext cx="8961120" cy="9601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1B5E20"/>
                </a:solidFill>
              </a:defRPr>
            </a:pPr>
            <a:r>
              <a:t>Application</a:t>
            </a:r>
          </a:p>
          <a:p>
            <a:pPr algn="ctr">
              <a:defRPr sz="1200">
                <a:solidFill>
                  <a:srgbClr val="424242"/>
                </a:solidFill>
              </a:defRPr>
            </a:pPr>
            <a:r>
              <a:t>UseCase（1クラス=1ユースケース）</a:t>
            </a:r>
            <a:br/>
            <a:r>
              <a:t>（use_cases / dtos）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0" y="3794759"/>
            <a:ext cx="0" cy="32004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45920" y="4114800"/>
            <a:ext cx="8961120" cy="9601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EF6C00"/>
                </a:solidFill>
              </a:defRPr>
            </a:pPr>
            <a:r>
              <a:t>Domain</a:t>
            </a:r>
          </a:p>
          <a:p>
            <a:pPr algn="ctr">
              <a:defRPr sz="1200">
                <a:solidFill>
                  <a:srgbClr val="424242"/>
                </a:solidFill>
              </a:defRPr>
            </a:pPr>
            <a:r>
              <a:t>Entity・Value Object・Repository I/F</a:t>
            </a:r>
            <a:br/>
            <a:r>
              <a:t>（Flutter / 外部ライブラリに依存しない）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5074920"/>
            <a:ext cx="0" cy="320039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645920" y="5394960"/>
            <a:ext cx="8961120" cy="9601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800" b="1">
                <a:solidFill>
                  <a:srgbClr val="1B5E20"/>
                </a:solidFill>
              </a:defRPr>
            </a:pPr>
            <a:r>
              <a:t>Infrastructure (data/)</a:t>
            </a:r>
          </a:p>
          <a:p>
            <a:pPr algn="ctr">
              <a:defRPr sz="1200">
                <a:solidFill>
                  <a:srgbClr val="424242"/>
                </a:solidFill>
              </a:defRPr>
            </a:pPr>
            <a:r>
              <a:t>sqflite・ファイルI/O・cameraプラグイン等</a:t>
            </a:r>
            <a:br/>
            <a:r>
              <a:t>（Domainが定義したI/Fを実装）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644652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24242"/>
                </a:solidFill>
              </a:defRPr>
            </a:pPr>
            <a:r>
              <a:t>Presentation は Riverpod 経由で Infrastructure 層のサービスも呼び出す（DI: providers.dart）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ドメインモデル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SwingSession エンティティと3つの Value Object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79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206240" cy="24688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25400" bIns="25400"/>
          <a:lstStyle/>
          <a:p>
            <a:pPr algn="ctr">
              <a:defRPr sz="1600" b="1">
                <a:solidFill>
                  <a:srgbClr val="EF6C00"/>
                </a:solidFill>
              </a:defRPr>
            </a:pPr>
            <a:r>
              <a:t>SwingSession (Entity)</a:t>
            </a:r>
          </a:p>
          <a:p>
            <a:pPr algn="l">
              <a:defRPr sz="1250">
                <a:solidFill>
                  <a:srgbClr val="424242"/>
                </a:solidFill>
              </a:defRPr>
            </a:pPr>
            <a:r>
              <a:t>id : int</a:t>
            </a:r>
          </a:p>
          <a:p>
            <a:pPr algn="l">
              <a:defRPr sz="1250">
                <a:solidFill>
                  <a:srgbClr val="424242"/>
                </a:solidFill>
              </a:defRPr>
            </a:pPr>
            <a:r>
              <a:t>videoPath : VideoPath</a:t>
            </a:r>
          </a:p>
          <a:p>
            <a:pPr algn="l">
              <a:defRPr sz="1250">
                <a:solidFill>
                  <a:srgbClr val="424242"/>
                </a:solidFill>
              </a:defRPr>
            </a:pPr>
            <a:r>
              <a:t>recordedAt : DateTime</a:t>
            </a:r>
          </a:p>
          <a:p>
            <a:pPr algn="l">
              <a:defRPr sz="1250">
                <a:solidFill>
                  <a:srgbClr val="424242"/>
                </a:solidFill>
              </a:defRPr>
            </a:pPr>
            <a:r>
              <a:t>duration : SwingDuration</a:t>
            </a:r>
          </a:p>
          <a:p>
            <a:pPr algn="l">
              <a:defRPr sz="1250">
                <a:solidFill>
                  <a:srgbClr val="424242"/>
                </a:solidFill>
              </a:defRPr>
            </a:pPr>
            <a:r>
              <a:t>targetFps : Fps</a:t>
            </a:r>
          </a:p>
          <a:p>
            <a:pPr algn="l">
              <a:defRPr sz="1250">
                <a:solidFill>
                  <a:srgbClr val="424242"/>
                </a:solidFill>
              </a:defRPr>
            </a:pPr>
            <a:r>
              <a:t>note : String?</a:t>
            </a:r>
          </a:p>
          <a:p>
            <a:pPr algn="l">
              <a:defRPr sz="1250">
                <a:solidFill>
                  <a:srgbClr val="424242"/>
                </a:solidFill>
              </a:defRPr>
            </a:pPr>
            <a:r>
              <a:t>impactDetected : bool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554480"/>
            <a:ext cx="585216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VideoPath  —  String をラップ</a:t>
            </a:r>
          </a:p>
          <a:p>
            <a:pPr>
              <a:defRPr sz="1150">
                <a:solidFill>
                  <a:srgbClr val="424242"/>
                </a:solidFill>
              </a:defRPr>
            </a:pPr>
            <a:r>
              <a:t>不変条件: 非空であること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468880"/>
            <a:ext cx="585216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Fps  —  int をラップ</a:t>
            </a:r>
          </a:p>
          <a:p>
            <a:pPr>
              <a:defRPr sz="1150">
                <a:solidFill>
                  <a:srgbClr val="424242"/>
                </a:solidFill>
              </a:defRPr>
            </a:pPr>
            <a:r>
              <a:t>不変条件: 正の値であること（ゼロ除算防止）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383280"/>
            <a:ext cx="585216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SwingDuration  —  int(ms) をラップ</a:t>
            </a:r>
          </a:p>
          <a:p>
            <a:pPr>
              <a:defRPr sz="1150">
                <a:solidFill>
                  <a:srgbClr val="424242"/>
                </a:solidFill>
              </a:defRPr>
            </a:pPr>
            <a:r>
              <a:t>不変条件: 非負。mm:ss.t 形式の表示ラベルも自前で持つ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12121"/>
                </a:solidFill>
              </a:defRPr>
            </a:pPr>
            <a:r>
              <a:t>•  note（メモ）・impactDetected（真偽フラグ）は不変条件がないため VO 化していない</a:t>
            </a:r>
          </a:p>
          <a:p>
            <a:pPr>
              <a:spcAft>
                <a:spcPts val="1000"/>
              </a:spcAft>
              <a:defRPr sz="1300" b="1">
                <a:solidFill>
                  <a:srgbClr val="212121"/>
                </a:solidFill>
              </a:defRPr>
            </a:pPr>
            <a:r>
              <a:t>•  不変条件に違反すると InvalidValueObjectException（DomainException のサブクラス）を throw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ユースケース一覧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Application層。1クラス＝1ユースケース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79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SaveSwingSessionUseCase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554480"/>
            <a:ext cx="7223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424242"/>
                </a:solidFill>
              </a:defRPr>
            </a:pPr>
            <a:r>
              <a:t>セッションを保存（Repositoryへの単純委譲）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2918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GetAllSwingSessionsUseCase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468880"/>
            <a:ext cx="7223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424242"/>
                </a:solidFill>
              </a:defRPr>
            </a:pPr>
            <a:r>
              <a:t>全セッション取得（履歴一覧用）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32918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GetSwingSessionUseCase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383280"/>
            <a:ext cx="7223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424242"/>
                </a:solidFill>
              </a:defRPr>
            </a:pPr>
            <a:r>
              <a:t>IDで1件取得。存在しなければ例外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32918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DeleteSwingSessionUseCase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297680"/>
            <a:ext cx="7223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424242"/>
                </a:solidFill>
              </a:defRPr>
            </a:pPr>
            <a:r>
              <a:t>IDで削除（DB行＋動画ファイルの両方）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3291840" cy="7772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EF6C00"/>
                </a:solidFill>
              </a:defRPr>
            </a:pPr>
            <a:r>
              <a:t>PrepareSwingClipUseCase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212080"/>
            <a:ext cx="7223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EF6C00"/>
                </a:solidFill>
              </a:defRPr>
            </a:pPr>
            <a:r>
              <a:t>★ インパクト検出＋トリミング（唯一ロジックを持つUseCase）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PrepareSwingClipUseCase の処理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撮影直後のドラフトをインパクト前後0.2秒のクリップに変換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79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606040" cy="13716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①</a:t>
            </a:r>
            <a:br/>
            <a:r>
              <a:t>ImpactDetectionService で</a:t>
            </a:r>
            <a:br/>
            <a:r>
              <a:t>インパクト時刻を検出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37560" y="2423160"/>
            <a:ext cx="274320" cy="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11880" y="1737360"/>
            <a:ext cx="2606040" cy="13716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②</a:t>
            </a:r>
            <a:br/>
            <a:r>
              <a:t>検出できた場合</a:t>
            </a:r>
            <a:br/>
            <a:r>
              <a:t>start/endを±200msで算出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0" y="2423160"/>
            <a:ext cx="274320" cy="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92240" y="1737360"/>
            <a:ext cx="2606040" cy="13716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③</a:t>
            </a:r>
            <a:br/>
            <a:r>
              <a:t>VideoTrimService で</a:t>
            </a:r>
            <a:br/>
            <a:r>
              <a:t>トリミング実行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8280" y="2423160"/>
            <a:ext cx="274320" cy="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372600" y="1737360"/>
            <a:ext cx="2606040" cy="13716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④</a:t>
            </a:r>
            <a:br/>
            <a:r>
              <a:t>元動画を削除し</a:t>
            </a:r>
            <a:br/>
            <a:r>
              <a:t>impactDetected=true で返す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394960" cy="9144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62828"/>
                </a:solidFill>
              </a:defRPr>
            </a:pPr>
            <a:r>
              <a:t>検出できなかった場合 → トリム/削除は一切行わず</a:t>
            </a:r>
            <a:br/>
            <a:r>
              <a:t>impactDetected=false のまま元動画を保存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12121"/>
                </a:solidFill>
              </a:defRPr>
            </a:pPr>
            <a:r>
              <a:t>•  _clipMargin = 200ms（前後合計0.4秒のクリップになる）</a:t>
            </a:r>
          </a:p>
          <a:p>
            <a:pPr>
              <a:spcAft>
                <a:spcPts val="1000"/>
              </a:spcAft>
              <a:defRPr sz="1300" b="1">
                <a:solidFill>
                  <a:srgbClr val="212121"/>
                </a:solidFill>
              </a:defRPr>
            </a:pPr>
            <a:r>
              <a:t>•  start/end は動画の先頭・末尾でクランプ（負の値や動画長を超える値にはならない）</a:t>
            </a:r>
          </a:p>
          <a:p>
            <a:pPr>
              <a:spcAft>
                <a:spcPts val="1000"/>
              </a:spcAft>
              <a:defRPr sz="1300" b="1">
                <a:solidFill>
                  <a:srgbClr val="212121"/>
                </a:solidFill>
              </a:defRPr>
            </a:pPr>
            <a:r>
              <a:t>•  ImpactDetectionService / VideoTrimService / VideoStorageService は String/Duration のプリミティブで受け渡し（VOは境界でunwrap）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インパクト検出アルゴリズム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ROIのフレーム差分を「粗→密」の2段階で走査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79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t=0 で ROI の色を取得</a:t>
            </a:r>
            <a:br/>
            <a:r>
              <a:t>→ baseline とする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31920" y="2240280"/>
            <a:ext cx="320040" cy="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51960" y="1645920"/>
            <a:ext cx="320040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粗い間隔(300ms)で走査</a:t>
            </a:r>
            <a:br/>
            <a:r>
              <a:t>baseline との差を比較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52360" y="2240280"/>
            <a:ext cx="320040" cy="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0" y="1645920"/>
            <a:ext cx="3200400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EF6C00"/>
                </a:solidFill>
              </a:defRPr>
            </a:pPr>
            <a:r>
              <a:t>しきい値超えが</a:t>
            </a:r>
            <a:br/>
            <a:r>
              <a:t>2回連続で検出？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686800" y="914400"/>
            <a:ext cx="0" cy="1325880"/>
          </a:xfrm>
          <a:prstGeom prst="line">
            <a:avLst/>
          </a:prstGeom>
          <a:ln w="22225">
            <a:solidFill>
              <a:srgbClr val="4242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80960" y="1376172"/>
            <a:ext cx="2011680" cy="36576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24242"/>
                </a:solidFill>
              </a:defRPr>
            </a:pPr>
            <a:r>
              <a:t>No: 走査継続→末尾まで未検出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28600"/>
            <a:ext cx="3291840" cy="6400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62828"/>
                </a:solidFill>
              </a:defRPr>
            </a:pPr>
            <a:r>
              <a:t>検出できず</a:t>
            </a:r>
            <a:br/>
            <a:r>
              <a:t>impactDetected = false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0" y="2834640"/>
            <a:ext cx="0" cy="73152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80960" y="2999232"/>
            <a:ext cx="2011680" cy="36576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E7D32"/>
                </a:solidFill>
              </a:defRPr>
            </a:pPr>
            <a:r>
              <a:t>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411480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直前の粗い区間内を</a:t>
            </a:r>
            <a:br/>
            <a:r>
              <a:t>密な間隔(33ms)で再走査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4251960"/>
            <a:ext cx="594360" cy="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0" y="3657600"/>
            <a:ext cx="502920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しきい値を最初に超えた時刻</a:t>
            </a:r>
            <a:br/>
            <a:r>
              <a:t>＝ 厳密なインパクト時刻</a:t>
            </a:r>
            <a:br/>
            <a:r>
              <a:t>→ ±200msでトリミング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F6C00"/>
                </a:solidFill>
              </a:defRPr>
            </a:pPr>
            <a:r>
              <a:t>なぜ2段階？</a:t>
            </a:r>
          </a:p>
          <a:p>
            <a:pPr>
              <a:defRPr sz="1300">
                <a:solidFill>
                  <a:srgbClr val="424242"/>
                </a:solidFill>
              </a:defRPr>
            </a:pPr>
            <a:r>
              <a:t>実機検証で、ネイティブのサムネイル抽出1回に約300〜400ms掛かることが判明。全区間を33ms間隔で走査すると10秒の動画で100秒以上かかってしまうため、粗い間隔で候補区間を絞り込み、その区間だけ精密に再走査することで処理時間を大幅に短縮（呼び出し回数を約5〜7倍削減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撮影 → 保存の流れ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検出成功パターン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79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12121"/>
                </a:solidFill>
              </a:defRPr>
            </a:pPr>
            <a:r>
              <a:t>•  1. User が録画開始 → CameraRecordingService.startRecording()</a:t>
            </a:r>
          </a:p>
          <a:p>
            <a:pPr>
              <a:spcAft>
                <a:spcPts val="1000"/>
              </a:spcAft>
              <a:defRPr sz="1700" b="1">
                <a:solidFill>
                  <a:srgbClr val="212121"/>
                </a:solidFill>
              </a:defRPr>
            </a:pPr>
            <a:r>
              <a:t>•  2. User が録画停止 → 動画ファイルを VideoStorageService.persist() で保存</a:t>
            </a:r>
          </a:p>
          <a:p>
            <a:pPr>
              <a:spcAft>
                <a:spcPts val="1000"/>
              </a:spcAft>
              <a:defRPr sz="1700" b="1">
                <a:solidFill>
                  <a:srgbClr val="212121"/>
                </a:solidFill>
              </a:defRPr>
            </a:pPr>
            <a:r>
              <a:t>•  3. PlaybackScreen で内容確認 → User が「保存」タップ</a:t>
            </a:r>
          </a:p>
          <a:p>
            <a:pPr>
              <a:spcAft>
                <a:spcPts val="1000"/>
              </a:spcAft>
              <a:defRPr sz="1700" b="1">
                <a:solidFill>
                  <a:srgbClr val="212121"/>
                </a:solidFill>
              </a:defRPr>
            </a:pPr>
            <a:r>
              <a:t>•  4. PrepareSwingClipUseCase.execute(draft) を実行</a:t>
            </a:r>
          </a:p>
          <a:p>
            <a:pPr>
              <a:spcAft>
                <a:spcPts val="400"/>
              </a:spcAft>
              <a:defRPr sz="1400" b="0">
                <a:solidFill>
                  <a:srgbClr val="424242"/>
                </a:solidFill>
              </a:defRPr>
            </a:pPr>
            <a:r>
              <a:t>    ‒  ImpactDetectionService で検出 → VideoTrimService でトリム → 元ファイル削除</a:t>
            </a:r>
          </a:p>
          <a:p>
            <a:pPr>
              <a:spcAft>
                <a:spcPts val="1000"/>
              </a:spcAft>
              <a:defRPr sz="1700" b="1">
                <a:solidFill>
                  <a:srgbClr val="212121"/>
                </a:solidFill>
              </a:defRPr>
            </a:pPr>
            <a:r>
              <a:t>•  5. SaveSwingSessionUseCase → SwingSessionRepository → DatabaseService に保存（IDが付与される）</a:t>
            </a:r>
          </a:p>
          <a:p>
            <a:pPr>
              <a:spcAft>
                <a:spcPts val="1000"/>
              </a:spcAft>
              <a:defRPr sz="1700" b="1">
                <a:solidFill>
                  <a:srgbClr val="212121"/>
                </a:solidFill>
              </a:defRPr>
            </a:pPr>
            <a:r>
              <a:t>•  6. 履歴一覧を再取得し、履歴画面へ戻る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画面・ナビゲーション構成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GoRouter の StatefulShellRoute でタブの状態を保持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79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292608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/record</a:t>
            </a:r>
            <a:br/>
            <a:r>
              <a:t>（撮影タブ・初期画面）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28800"/>
            <a:ext cx="2926080" cy="10972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/history</a:t>
            </a:r>
            <a:br/>
            <a:r>
              <a:t>（履歴タブ）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24242"/>
                </a:solidFill>
              </a:defRPr>
            </a:pPr>
            <a:r>
              <a:t>↑ ボトムナビゲーションで切替（状態保持）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926080"/>
            <a:ext cx="3474720" cy="100584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217920" y="2926080"/>
            <a:ext cx="182880" cy="100584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4023360"/>
            <a:ext cx="3657600" cy="10972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EF6C00"/>
                </a:solidFill>
              </a:defRPr>
            </a:pPr>
            <a:r>
              <a:t>/playback</a:t>
            </a:r>
            <a:br/>
            <a:r>
              <a:t>（再生画面）</a:t>
            </a:r>
            <a:br/>
            <a:r>
              <a:t>extra: PlaybackArgs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12121"/>
                </a:solidFill>
              </a:defRPr>
            </a:pPr>
            <a:r>
              <a:t>•  PlaybackArgs.isFreshRecording で2モードを切替：</a:t>
            </a:r>
          </a:p>
          <a:p>
            <a:pPr>
              <a:spcAft>
                <a:spcPts val="400"/>
              </a:spcAft>
              <a:defRPr sz="1100" b="0">
                <a:solidFill>
                  <a:srgbClr val="424242"/>
                </a:solidFill>
              </a:defRPr>
            </a:pPr>
            <a:r>
              <a:t>    ‒  true  → 撮影直後のレビュー（削除／保存ボタン）</a:t>
            </a:r>
          </a:p>
          <a:p>
            <a:pPr>
              <a:spcAft>
                <a:spcPts val="400"/>
              </a:spcAft>
              <a:defRPr sz="1100" b="0">
                <a:solidFill>
                  <a:srgbClr val="424242"/>
                </a:solidFill>
              </a:defRPr>
            </a:pPr>
            <a:r>
              <a:t>    ‒  false → 履歴からの再生（削除ボタンのみ）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データの保存方法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動画ファイル ＋ sqfliteメタデータ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79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動画ファイル</a:t>
            </a:r>
            <a:br/>
            <a:r>
              <a:t>swings/swing_&lt;timestamp&gt;.mp4</a:t>
            </a:r>
            <a:br/>
            <a:r>
              <a:t>（アプリのドキュメントディレクトリ配下）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メタデータ</a:t>
            </a:r>
            <a:br/>
            <a:r>
              <a:t>sqflite: golf_swing_analyzer.db</a:t>
            </a:r>
            <a:br/>
            <a:r>
              <a:t>テーブル swing_sessions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1546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612648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列名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型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説明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INTEGER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自動採番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videoPath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動画ファイルパス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recordedAt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撮影日時 (ISO8601)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durationMs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再生時間（ミリ秒）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targetFps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目標フレームレート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メモ（未使用）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impactDetected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検出成功フラグ (0/1, デフォルト1)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24242"/>
                </a:solidFill>
              </a:defRPr>
            </a:pPr>
            <a:r>
              <a:t>スキーマv2（v1→v2でimpactDetected列を追加）。Entity⇔Row変換はDatabaseServiceがVOのwrap/unwrapも担う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テスト方針</a:t>
            </a:r>
          </a:p>
          <a:p>
            <a:pPr>
              <a:defRPr sz="1600">
                <a:solidFill>
                  <a:srgbClr val="424242"/>
                </a:solidFill>
              </a:defRPr>
            </a:pPr>
            <a:r>
              <a:t>優先度: Domain &gt; UseCase &gt; Repository（CLAUDE.md準拠）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64240" cy="279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65760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VideoPath / Fps / SwingDuration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6858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不変条件・等価性・表示ラベルの境界値（実機検証済みの値を固定化）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65760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SwingSession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97480"/>
            <a:ext cx="6858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copyWith・等価性のVO合成サニティチェック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65760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PrepareSwingClipUseCase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749039"/>
            <a:ext cx="6858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検出成功時のトリム呼び出し／検出失敗時のフォールバック／トリム窓のクランプ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365760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1B5E20"/>
                </a:solidFill>
              </a:defRPr>
            </a:pPr>
            <a:r>
              <a:t>SwingSessionRepository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800600"/>
            <a:ext cx="6858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delete が DB行と動画ファイルの両方を消すこと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24242"/>
                </a:solidFill>
              </a:defRPr>
            </a:pPr>
            <a:r>
              <a:t>モックライブラリ（mocktail等）や sqflite_common_ffi は導入せず、依存の少ない手書きFakeで代替（既存方針との一貫性を優先）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24242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 DDDで4層に分離し、Domainは外部依存ゼロ／Value Objectで不変条件を保証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 唯一の複雑なロジック（インパクト検出＋トリミング）は2段階走査で実機性能の壁を解決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 検出失敗時も必ず動画を保存し、ユーザーに状況を伝えるフォールバック設計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7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 Domain/UseCase/Repositoryを優先したテストで主要な振る舞いを固定化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F5E9"/>
                </a:solidFill>
              </a:defRPr>
            </a:pPr>
            <a:r>
              <a:t>詳細: docs/design/DESIGN.md ／ docs/adr/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